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315200" y="2743200"/>
            <a:ext cx="5486400" cy="5486400"/>
          </a:xfrm>
          <a:prstGeom prst="ellipse">
            <a:avLst/>
          </a:prstGeom>
          <a:solidFill>
            <a:srgbClr val="BB86FC">
              <a:lumMod val="90000"/>
              <a:lumOff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1828800" y="-914400"/>
            <a:ext cx="7315200" cy="7315200"/>
          </a:xfrm>
          <a:prstGeom prst="ellipse">
            <a:avLst/>
          </a:prstGeom>
          <a:solidFill>
            <a:srgbClr val="00DFC1">
              <a:lumMod val="88000"/>
              <a:lumOff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FC1"/>
                </a:solidFill>
              </a:defRPr>
            </a:pPr>
            <a:r>
              <a:t>FintLer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Cure Salary Day Anxiety. See Exactly Where Your Money Vanishes.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D"/>
                </a:solidFill>
              </a:defRPr>
            </a:pPr>
            <a:r>
              <a:t>A Behavioral Financial Clarity Engine for India's UPI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70"/>
                </a:solidFill>
              </a:defRPr>
            </a:pPr>
            <a:r>
              <a:t>Product Deck  •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Problem: Salary Day Spending Anxiety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D"/>
                </a:solidFill>
              </a:defRPr>
            </a:pPr>
            <a:r>
              <a:t>India's young workforce is drowning in transactions, starved of clarity.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Gen Z financially insecure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</a:defRPr>
            </a:pPr>
            <a:r>
              <a:t>54%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56032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Millennials financially insecure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</a:defRPr>
            </a:pPr>
            <a:r>
              <a:t>46%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6032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Live paycheque-to-paycheque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</a:defRPr>
            </a:pPr>
            <a:r>
              <a:t>48%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Report daily money anxiety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AD"/>
                </a:solidFill>
              </a:defRPr>
            </a:pPr>
            <a:r>
              <a:t>▸ India's $148B fintech market overlooks behavioral clarity</a:t>
            </a:r>
          </a:p>
          <a:p>
            <a:pPr>
              <a:spcAft>
                <a:spcPts val="800"/>
              </a:spcAft>
              <a:defRPr sz="1500">
                <a:solidFill>
                  <a:srgbClr val="A0A0AD"/>
                </a:solidFill>
              </a:defRPr>
            </a:pPr>
            <a:r>
              <a:t>▸ Existing apps: manual entry (abandoned), judgmental tone, or bank-locked</a:t>
            </a:r>
          </a:p>
          <a:p>
            <a:pPr>
              <a:spcAft>
                <a:spcPts val="800"/>
              </a:spcAft>
              <a:defRPr sz="1500">
                <a:solidFill>
                  <a:srgbClr val="A0A0AD"/>
                </a:solidFill>
              </a:defRPr>
            </a:pPr>
            <a:r>
              <a:t>▸ UPI processes 19.6B transactions/month — but no one explains the story</a:t>
            </a:r>
          </a:p>
          <a:p>
            <a:pPr>
              <a:spcAft>
                <a:spcPts val="800"/>
              </a:spcAft>
              <a:defRPr sz="1500">
                <a:solidFill>
                  <a:srgbClr val="A0A0AD"/>
                </a:solidFill>
              </a:defRPr>
            </a:pPr>
            <a:r>
              <a:t>▸ 57.6% budget — but only half use tracking apps effectively</a:t>
            </a:r>
          </a:p>
          <a:p>
            <a:pPr>
              <a:spcAft>
                <a:spcPts val="800"/>
              </a:spcAft>
              <a:defRPr sz="1500">
                <a:solidFill>
                  <a:srgbClr val="A0A0AD"/>
                </a:solidFill>
              </a:defRPr>
            </a:pPr>
            <a:r>
              <a:t>▸ Western budgeting models don't fit India's UPI-first, multi-bank 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747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86FC"/>
                </a:solidFill>
              </a:defRPr>
            </a:pPr>
            <a:r>
              <a:t>▸ Avg Indian salaried millennial: ₹42,500/mo UPI spend</a:t>
            </a:r>
          </a:p>
          <a:p>
            <a:pPr>
              <a:spcAft>
                <a:spcPts val="800"/>
              </a:spcAft>
              <a:defRPr sz="1500">
                <a:solidFill>
                  <a:srgbClr val="BB86FC"/>
                </a:solidFill>
              </a:defRPr>
            </a:pPr>
            <a:r>
              <a:t>▸ 4+ streaming subscriptions, 3+ UPI apps, 2+ bank accounts</a:t>
            </a:r>
          </a:p>
          <a:p>
            <a:pPr>
              <a:spcAft>
                <a:spcPts val="800"/>
              </a:spcAft>
              <a:defRPr sz="1500">
                <a:solidFill>
                  <a:srgbClr val="BB86FC"/>
                </a:solidFill>
              </a:defRPr>
            </a:pPr>
            <a:r>
              <a:t>▸ EMI deductions cause mid-month balance anxiety</a:t>
            </a:r>
          </a:p>
          <a:p>
            <a:pPr>
              <a:spcAft>
                <a:spcPts val="800"/>
              </a:spcAft>
              <a:defRPr sz="1500">
                <a:solidFill>
                  <a:srgbClr val="BB86FC"/>
                </a:solidFill>
              </a:defRPr>
            </a:pPr>
            <a:r>
              <a:t>▸ Salary Day = relief + overspend guilt cycle repeated monthly</a:t>
            </a:r>
          </a:p>
          <a:p>
            <a:pPr>
              <a:spcAft>
                <a:spcPts val="800"/>
              </a:spcAft>
              <a:defRPr sz="1500">
                <a:solidFill>
                  <a:srgbClr val="BB86FC"/>
                </a:solidFill>
              </a:defRPr>
            </a:pPr>
            <a:r>
              <a:t>▸ No tool connects the dots between UPI, subscriptions, EMI &amp; lifestyle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00DFC1">
              <a:lumMod val="90000"/>
              <a:lumOff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FintLer: Your Financial Clarity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D"/>
                </a:solidFill>
              </a:defRPr>
            </a:pPr>
            <a:r>
              <a:t>Zero manual entry. Zero judgment. Pure behavioral clarity.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FC1"/>
                </a:solidFill>
              </a:defRPr>
            </a:pPr>
            <a:r>
              <a:t>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FC1"/>
                </a:solidFill>
              </a:defRPr>
            </a:pPr>
            <a:r>
              <a:t>Zero-Data 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D"/>
                </a:solidFill>
              </a:defRPr>
            </a:pPr>
            <a:r>
              <a:t>Gmail integration parses bank alerts automatically. Works across HDFC, ICICI, SBI, Axis, Kotak, Yes Bank. No manual logging = no abandonment.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474720" cy="4114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86FC"/>
                </a:solidFill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</a:defRPr>
            </a:pPr>
            <a:r>
              <a:t>AI Behavioral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1089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D"/>
                </a:solidFill>
              </a:defRPr>
            </a:pPr>
            <a:r>
              <a:t>Gemini 2.0 Flash categorizes transactions, detects patterns &amp; generates personality profiles. 95%+ extraction accuracy on Indian bank emails.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700"/>
                </a:solidFill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Empowering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089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D"/>
                </a:solidFill>
              </a:defRPr>
            </a:pPr>
            <a:r>
              <a:t>Personality labels ('Weekend Warrior'), behavioral triggers ('Late-night food = ₹4,200/mo'), micro-goals ('Try ₹500 Swiggy cap'). No guilt, just clarity.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India Fintech —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D"/>
                </a:solidFill>
              </a:defRPr>
            </a:pPr>
            <a:r>
              <a:t>The fastest-growing fintech market globally, with a behavioral clarity gap at its center.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74320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India Fintech Market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FC1"/>
                </a:solidFill>
              </a:defRPr>
            </a:pPr>
            <a:r>
              <a:t>$148B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828800"/>
            <a:ext cx="274320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Projected by 2033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FC1"/>
                </a:solidFill>
              </a:defRPr>
            </a:pPr>
            <a:r>
              <a:t>$867B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828800"/>
            <a:ext cx="274320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CAGR (2026–2033)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377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</a:defRPr>
            </a:pPr>
            <a:r>
              <a:t>28.7%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828800"/>
            <a:ext cx="1828800" cy="11887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Personal Finance Mkt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3774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$44.5M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D"/>
                </a:solidFill>
              </a:defRPr>
            </a:pPr>
            <a:r>
              <a:t>▸ UPI: 491M users, 65M merchants, 19.6B monthly transactions</a:t>
            </a:r>
          </a:p>
          <a:p>
            <a:pPr>
              <a:spcAft>
                <a:spcPts val="800"/>
              </a:spcAft>
              <a:defRPr sz="1400">
                <a:solidFill>
                  <a:srgbClr val="A0A0AD"/>
                </a:solidFill>
              </a:defRPr>
            </a:pPr>
            <a:r>
              <a:t>▸ Digital payments = 42.87% of fintech market share</a:t>
            </a:r>
          </a:p>
          <a:p>
            <a:pPr>
              <a:spcAft>
                <a:spcPts val="800"/>
              </a:spcAft>
              <a:defRPr sz="1400">
                <a:solidFill>
                  <a:srgbClr val="A0A0AD"/>
                </a:solidFill>
              </a:defRPr>
            </a:pPr>
            <a:r>
              <a:t>▸ Mobile apps = 67.83% of user interfaces (fastest growing at 18.39%)</a:t>
            </a:r>
          </a:p>
          <a:p>
            <a:pPr>
              <a:spcAft>
                <a:spcPts val="800"/>
              </a:spcAft>
              <a:defRPr sz="1400">
                <a:solidFill>
                  <a:srgbClr val="A0A0AD"/>
                </a:solidFill>
              </a:defRPr>
            </a:pPr>
            <a:r>
              <a:t>▸ Retail users = 66.24% of market — individual consumers dominate</a:t>
            </a:r>
          </a:p>
          <a:p>
            <a:pPr>
              <a:spcAft>
                <a:spcPts val="800"/>
              </a:spcAft>
              <a:defRPr sz="1400">
                <a:solidFill>
                  <a:srgbClr val="A0A0AD"/>
                </a:solidFill>
              </a:defRPr>
            </a:pPr>
            <a:r>
              <a:t>▸ Neobanking fastest-growing segment at 19.64%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747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86FC"/>
                </a:solidFill>
              </a:defRPr>
            </a:pPr>
            <a:r>
              <a:t>▸ Gen Z/millennials: 600M+ target demographic in India</a:t>
            </a:r>
          </a:p>
          <a:p>
            <a:pPr>
              <a:spcAft>
                <a:spcPts val="800"/>
              </a:spcAft>
              <a:defRPr sz="1400">
                <a:solidFill>
                  <a:srgbClr val="BB86FC"/>
                </a:solidFill>
              </a:defRPr>
            </a:pPr>
            <a:r>
              <a:t>▸ 48% Gen Z financially insecure — actively seeking solutions</a:t>
            </a:r>
          </a:p>
          <a:p>
            <a:pPr>
              <a:spcAft>
                <a:spcPts val="800"/>
              </a:spcAft>
              <a:defRPr sz="1400">
                <a:solidFill>
                  <a:srgbClr val="BB86FC"/>
                </a:solidFill>
              </a:defRPr>
            </a:pPr>
            <a:r>
              <a:t>▸ 80% report money anxiety — massive unfilled need</a:t>
            </a:r>
          </a:p>
          <a:p>
            <a:pPr>
              <a:spcAft>
                <a:spcPts val="800"/>
              </a:spcAft>
              <a:defRPr sz="1400">
                <a:solidFill>
                  <a:srgbClr val="BB86FC"/>
                </a:solidFill>
              </a:defRPr>
            </a:pPr>
            <a:r>
              <a:t>▸ 57.6% already budget — but need behavioral 'why', not just 'what'</a:t>
            </a:r>
          </a:p>
          <a:p>
            <a:pPr>
              <a:spcAft>
                <a:spcPts val="800"/>
              </a:spcAft>
              <a:defRPr sz="1400">
                <a:solidFill>
                  <a:srgbClr val="BB86FC"/>
                </a:solidFill>
              </a:defRPr>
            </a:pPr>
            <a:r>
              <a:t>▸ Account Aggregator framework unlocking data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Competitive Landscape — The White Space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7432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PhonePe, GPay, Paytm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80160"/>
            <a:ext cx="41148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4173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Transaction rails only. No financial clarity, no behavioral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7432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</a:defRPr>
            </a:pPr>
            <a:r>
              <a:t>Budgeting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CRED, ET Money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331720"/>
            <a:ext cx="41148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4688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Reward/UPS-driven. Generic categories. No bank-agnostic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79"/>
            <a:ext cx="27432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Neobanking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Fi, Jupiter, Niyo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383279"/>
            <a:ext cx="41148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520439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Partner-bank-locked. Only work with 1-2 banks. Can't see full picture.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27432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Wealth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Groww, Zerodha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434840"/>
            <a:ext cx="41148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45720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Investment-only. No expense management, no behavioral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27432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</a:defRPr>
            </a:pPr>
            <a:r>
              <a:t>Credit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Moneyview, CASHe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5486400"/>
            <a:ext cx="4114800" cy="86868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56235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Lending-focused. Not financial wellness. High APR products.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1280160"/>
            <a:ext cx="3474720" cy="48463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★ FintLer Differentiators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▸ Bank-agnostic: works across ALL banks via Gmail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▸ Zero manual entry: parse, don't type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▸ Behavioral AI: personality, triggers, micro-goals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▸ Zero judgment tone: empower, don't shame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▸ Real-time: Pub/Sub webhooks for instant updates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▸ Consent-first: read-only, privacy-respecting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▸ Indian-first: UPI, ₹, ₹42K patterns, multi-bank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Target Persona: Indian Salary Millennial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FC1"/>
                </a:solidFill>
              </a:defRPr>
            </a:pPr>
            <a:r>
              <a:t>👤  Arjun — The Salary Millennial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Age: 28, Software Engineer in Bangalore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Income: ₹18 LPA | Rent: ₹28K | EMI: ₹8,500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Has: HDFC + ICICI accounts, 3 UPI apps, 4 subscriptions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Monthly spend: ~₹45K — 42% on food transport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Anxious about: mid-month balance, EMI auto-debit, savings rate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Currently: checks 3 bank apps + CRED manually every week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Wants: 'One place to see where it all goes — without judgment'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Tech: Uses 8+ apps daily, trusts Google, hates manual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029200" cy="45720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FC1"/>
                </a:solidFill>
              </a:defRPr>
            </a:pPr>
            <a:r>
              <a:t>📊  User Behavior Patterns (from demo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Salary credit: ₹85K on 1st of every month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Food delivery: 25+ orders/month, avg ₹650 each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Peak spend: Friday 10 PM–midnight (late-night cravings)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Weekend surge: 62% of discretionary spend Fri–Sun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Subscription bleed: ₹1,216/mo on 4 streaming services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EMI anchor: ₹8,500/mo = 20% of take-home pay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Transfer pattern: ₹2K–3K UPI to friends weekly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▸ Grocery spend: well-controlled at ₹6,500/mo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User Journey → Product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FC1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3-tier consent + Google OAuth with Gmail readonly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65176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FC1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Gmail API scans 90 days of bank alert emails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65176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FC1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Gemini 2.0 extracts amount, merchant, category,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65176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FC1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Personality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AI assigns spending persona + behavioral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265176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FC1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Bento grid: personality, summary, alert, goal, transactions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931920"/>
            <a:ext cx="265176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FC1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Pub/Sub webhook triggers instant re-analysis on new email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931920"/>
            <a:ext cx="2651760" cy="21031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FC1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Weekly 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Actionable micro-targets built from behavioral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D"/>
                </a:solidFill>
              </a:defRPr>
            </a:pPr>
            <a:r>
              <a:t>Modern, secure, and scalable — built for production.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28600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React 19 + Vite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37360"/>
            <a:ext cx="804672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745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Netlify-hosted SPA, Tailwind v4, Framer Motion, code-split vendor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228600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</a:defRPr>
            </a:pPr>
            <a:r>
              <a:t>Auth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Supabase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560320"/>
            <a:ext cx="804672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6974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Row-Level Security, Google OAuth, Postgres DB, realtime subscriptions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228600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Email Parsing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Gemini 2.0 Flash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383280"/>
            <a:ext cx="804672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5204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Regex-first → AI-fallback pipeline. 95%+ accuracy on Indian bank emails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228600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Behavioral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53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Gemini 2.0 Flash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4206240"/>
            <a:ext cx="804672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34340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Context-aware personality analysis with ₹-format, UPI pattern recognition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228600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02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Edge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766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Deno + Supabase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5029200"/>
            <a:ext cx="804672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516636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6 functions: sync, parse, insights, webhook, debug, statement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852160"/>
            <a:ext cx="228600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253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Email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99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D"/>
                </a:solidFill>
              </a:defRPr>
            </a:pPr>
            <a:r>
              <a:t>Gmail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5852160"/>
            <a:ext cx="8046720" cy="6858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598932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D"/>
                </a:solidFill>
              </a:defRPr>
            </a:pPr>
            <a:r>
              <a:t>Read-only scope (gmail.readonly), Pub/Sub webhook for real-time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Product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50292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FC1"/>
                </a:solidFill>
              </a:defRPr>
            </a:pPr>
            <a:r>
              <a:t>Now (H2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10312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76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Private beta: waitlist-gated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74320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16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6 major Indian banks supported (HDFC, ICICI, SBI, Axis, Kotak, Yes)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383279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564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Core behavioral engine: personality + insights + micro-goals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023359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09651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Weekly goal setting with progress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66344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Feedback loop for bank email format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280160"/>
            <a:ext cx="3474720" cy="50292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</a:defRPr>
            </a:pPr>
            <a:r>
              <a:t>Next (H1 2027)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210312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2176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React Native mobile app (67.8% of fintech users mobile-first)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274320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816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UPI Lite auto-tracking without Gmail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79" y="3383279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34564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Shared goals for couples/family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79" y="4023359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409651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Bill negotiation AI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79" y="466344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Expand to 10+ banks &amp; NBFC email formats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79" y="530352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59" y="53766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Export to PDF/CSV for tax planning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280160"/>
            <a:ext cx="3474720" cy="50292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</a:defRPr>
            </a:pPr>
            <a:r>
              <a:t>Future (2028+)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10312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1762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Account Aggregator framework integration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274320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8163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Credit score simulator: 'What-if' on CIBIL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383279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4564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B2B employer wellness program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4023359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09651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Financial health API for neobanks &amp; NBFCs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466344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AI coach: conversational financial advisor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5303520"/>
            <a:ext cx="2926080" cy="502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53766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→ Investment recommendation engine (FD → MF → Stocks)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Success Metrics &amp; 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FC1"/>
                </a:solidFill>
              </a:defRPr>
            </a:pPr>
            <a:r>
              <a:t>Key Metrics (12-Month Targets)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01168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&gt;40%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737360"/>
            <a:ext cx="329184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Waitlist → 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11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D"/>
                </a:solidFill>
              </a:defRPr>
            </a:pPr>
            <a:r>
              <a:t>Consent flow isn't blocking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201168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&gt;60%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423160"/>
            <a:ext cx="329184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468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Week-1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97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D"/>
                </a:solidFill>
              </a:defRPr>
            </a:pPr>
            <a:r>
              <a:t>Aha moment from first insight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201168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&gt;30%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108960"/>
            <a:ext cx="329184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154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Week-4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3832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D"/>
                </a:solidFill>
              </a:defRPr>
            </a:pPr>
            <a:r>
              <a:t>Weekly goal habit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201168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&gt;25%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794760"/>
            <a:ext cx="329184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3840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Insight → Action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69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D"/>
                </a:solidFill>
              </a:defRPr>
            </a:pPr>
            <a:r>
              <a:t>Goals set after reading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201168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&gt;70%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4480560"/>
            <a:ext cx="329184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45262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Gmail Connection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D"/>
                </a:solidFill>
              </a:defRPr>
            </a:pPr>
            <a:r>
              <a:t>Low-friction OAuth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66360"/>
            <a:ext cx="201168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&gt;50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5166360"/>
            <a:ext cx="3291840" cy="54864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5212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NPS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4406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D"/>
                </a:solidFill>
              </a:defRPr>
            </a:pPr>
            <a:r>
              <a:t>Product-market fit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FC1"/>
                </a:solidFill>
              </a:defRPr>
            </a:pPr>
            <a:r>
              <a:t>Revenue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1737360"/>
            <a:ext cx="4846320" cy="9144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FC1"/>
                </a:solidFill>
              </a:defRPr>
            </a:pPr>
            <a:r>
              <a:t>Freemium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1828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Basic insights: FREE</a:t>
            </a:r>
            <a:br/>
            <a:r>
              <a:t>Premium (AI coaching, history): ₹99/mo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2834639"/>
            <a:ext cx="4846320" cy="9144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9260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</a:defRPr>
            </a:pPr>
            <a:r>
              <a:t>B2B Wellness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92607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Employer partnerships</a:t>
            </a:r>
            <a:br/>
            <a:r>
              <a:t>₹50/employee/month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931920"/>
            <a:ext cx="4846320" cy="9144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Affiliate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023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Commission-free FD, MF,</a:t>
            </a:r>
            <a:br/>
            <a:r>
              <a:t>insurance product referrals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5029200"/>
            <a:ext cx="4846320" cy="91440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API License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1206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Behavioral engine as a service</a:t>
            </a:r>
            <a:br/>
            <a:r>
              <a:t>for neobanks &amp; NBFCs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Makes FintLer Defensible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28600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Data 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280160"/>
            <a:ext cx="804672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417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Gmail integration captures ALL bank transactions — not just partner banks. The user's full financial picture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28600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</a:defRPr>
            </a:pPr>
            <a:r>
              <a:t>AI Moat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286000"/>
            <a:ext cx="804672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4231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Gemini 2.0 Flash parsing trained on Indian bank emails. 95%+ accuracy. Regex-first → AI-fallback pipeline. Gets smarter with every user feedback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228600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Behavioral Moat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291840"/>
            <a:ext cx="804672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4290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Personality profiling + micro-goals create habit loops. No competitor offers 'Spending Personality + Weekly Goal' as a compound feature.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228600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Trust Moat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297680"/>
            <a:ext cx="804672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4348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Read-only consent, zero-judgment tone, privacy-first design. Users feel safe — not shamed. This drives retention and word-of-mouth.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228600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FC1"/>
                </a:solidFill>
              </a:defRPr>
            </a:pPr>
            <a:r>
              <a:t>Distribution Moat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303520"/>
            <a:ext cx="8046720" cy="8229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5440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Gmail = universal. Every Indian salary earner has one. No app download required for initial engagement. OAuth is the lowest-friction onboarding.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Current Status &amp;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✅ Phase 1: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Hardened CORS, Auth, Schema — production-ready 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✅ Phase 2: Error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965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ErrorBoundary, modal controls, logger — crash-proof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✅ Phase 3: Schema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Consolidated Supabase schema with RLS, realtime, email_connections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✅ Phase 4: Frontend Cleanup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Code splitting, mobile navbar, memo components — sub-1s 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✅ Phase 5: Edge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6 functions optimized: JWT auth, Gemini 2.0, consistent error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✅ Phase 6: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709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19 unit tests (Vitest) — logger, components, routing, error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FC1"/>
                </a:solidFill>
              </a:defRPr>
            </a:pPr>
            <a:r>
              <a:t>✅ Phase 7: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D"/>
                </a:solidFill>
              </a:defRPr>
            </a:pPr>
            <a:r>
              <a:t>Deployed on Netlify — fintlerai.netlify.app — Supabase linked &amp; configured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7315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FC1"/>
                </a:solidFill>
              </a:defRPr>
            </a:pPr>
            <a:r>
              <a:t>Live Preview: https://fintlerai.netlify.app  |  Supabase: dpaygeohgnrmwucsbcak.supabase.co  |  Netlify CI: GitHub auto-deploy on 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BB86FC">
              <a:lumMod val="92000"/>
              <a:lumOff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0" y="914400"/>
            <a:ext cx="6400800" cy="6400800"/>
          </a:xfrm>
          <a:prstGeom prst="ellipse">
            <a:avLst/>
          </a:prstGeom>
          <a:solidFill>
            <a:srgbClr val="00DFC1">
              <a:lumMod val="92000"/>
              <a:lumOff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FC1"/>
                </a:solidFill>
              </a:defRPr>
            </a:pPr>
            <a:r>
              <a:t>Let's cure salary day anxiety —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D"/>
                </a:solidFill>
              </a:defRPr>
            </a:pPr>
            <a:r>
              <a:t>Live Demo: https://fintlerai.netlify.app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070"/>
                </a:solidFill>
              </a:defRPr>
            </a:pPr>
            <a:r>
              <a:t>Product Analysis: C:\Product Sprint 2\PRODUCT_ANALYSIS.md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